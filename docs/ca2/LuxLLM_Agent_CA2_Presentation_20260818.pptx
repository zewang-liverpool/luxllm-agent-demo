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2e7defcc3f424f" /><Relationship Type="http://schemas.openxmlformats.org/officeDocument/2006/relationships/extended-properties" Target="/docProps/app.xml" Id="Re1ce812cc6c34a7a" /><Relationship Type="http://schemas.openxmlformats.org/officeDocument/2006/relationships/officeDocument" Target="/ppt/presentation.xml" Id="R8f48c007bfd649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17f27e70704bc2"/>
  </p:sldMasterIdLst>
  <p:notesMasterIdLst>
    <p:notesMasterId xmlns:r="http://schemas.openxmlformats.org/officeDocument/2006/relationships" r:id="R29c62a0d7bab4797"/>
  </p:notesMasterIdLst>
  <p:sldIdLst>
    <p:sldId xmlns:r="http://schemas.openxmlformats.org/officeDocument/2006/relationships" id="256" r:id="R96f098ad4e1a418b"/>
    <p:sldId xmlns:r="http://schemas.openxmlformats.org/officeDocument/2006/relationships" id="257" r:id="Re994cf2061704bae"/>
    <p:sldId xmlns:r="http://schemas.openxmlformats.org/officeDocument/2006/relationships" id="258" r:id="R5d921d56a3054c68"/>
    <p:sldId xmlns:r="http://schemas.openxmlformats.org/officeDocument/2006/relationships" id="259" r:id="R028b096cf02540dc"/>
    <p:sldId xmlns:r="http://schemas.openxmlformats.org/officeDocument/2006/relationships" id="260" r:id="R38066607dfdd4d41"/>
    <p:sldId xmlns:r="http://schemas.openxmlformats.org/officeDocument/2006/relationships" id="261" r:id="R033a23a09cd543d1"/>
    <p:sldId xmlns:r="http://schemas.openxmlformats.org/officeDocument/2006/relationships" id="262" r:id="R6f256384351a47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1f6bdeee2e4c83" /><Relationship Type="http://schemas.openxmlformats.org/officeDocument/2006/relationships/slideMaster" Target="/ppt/slideMasters/slideMaster1.xml" Id="R7a17f27e70704bc2" /><Relationship Type="http://schemas.openxmlformats.org/officeDocument/2006/relationships/notesMaster" Target="/ppt/notesMasters/notesMaster1.xml" Id="R29c62a0d7bab4797" /><Relationship Type="http://schemas.openxmlformats.org/officeDocument/2006/relationships/presProps" Target="/ppt/presProps.xml" Id="R3baecfe151a9490d" /><Relationship Type="http://schemas.openxmlformats.org/officeDocument/2006/relationships/tableStyles" Target="/ppt/tableStyles.xml" Id="R9eebfb62578c4538" /><Relationship Type="http://schemas.openxmlformats.org/officeDocument/2006/relationships/slide" Target="/ppt/slides/slide1.xml" Id="R96f098ad4e1a418b" /><Relationship Type="http://schemas.openxmlformats.org/officeDocument/2006/relationships/slide" Target="/ppt/slides/slide2.xml" Id="Re994cf2061704bae" /><Relationship Type="http://schemas.openxmlformats.org/officeDocument/2006/relationships/slide" Target="/ppt/slides/slide3.xml" Id="R5d921d56a3054c68" /><Relationship Type="http://schemas.openxmlformats.org/officeDocument/2006/relationships/slide" Target="/ppt/slides/slide4.xml" Id="R028b096cf02540dc" /><Relationship Type="http://schemas.openxmlformats.org/officeDocument/2006/relationships/slide" Target="/ppt/slides/slide5.xml" Id="R38066607dfdd4d41" /><Relationship Type="http://schemas.openxmlformats.org/officeDocument/2006/relationships/slide" Target="/ppt/slides/slide6.xml" Id="R033a23a09cd543d1" /><Relationship Type="http://schemas.openxmlformats.org/officeDocument/2006/relationships/slide" Target="/ppt/slides/slide7.xml" Id="R6f256384351a47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529ca8e85a46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46dedc614f4d35" /><Relationship Type="http://schemas.openxmlformats.org/officeDocument/2006/relationships/notesMaster" Target="/ppt/notesMasters/notesMaster1.xml" Id="R50b8943c12d042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838510feff4637" /><Relationship Type="http://schemas.openxmlformats.org/officeDocument/2006/relationships/notesMaster" Target="/ppt/notesMasters/notesMaster1.xml" Id="Rf09a7afa781149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1b40d6b0544ddd" /><Relationship Type="http://schemas.openxmlformats.org/officeDocument/2006/relationships/notesMaster" Target="/ppt/notesMasters/notesMaster1.xml" Id="Rd7a62e306a744d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ece8a309004197" /><Relationship Type="http://schemas.openxmlformats.org/officeDocument/2006/relationships/notesMaster" Target="/ppt/notesMasters/notesMaster1.xml" Id="R00dcfd92636748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b4c3aceafb4183" /><Relationship Type="http://schemas.openxmlformats.org/officeDocument/2006/relationships/notesMaster" Target="/ppt/notesMasters/notesMaster1.xml" Id="R13f01fa9c5554d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da945d84e444c7" /><Relationship Type="http://schemas.openxmlformats.org/officeDocument/2006/relationships/notesMaster" Target="/ppt/notesMasters/notesMaster1.xml" Id="R4cc1831f06ad4e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36bbcd9c8e4b1e" /><Relationship Type="http://schemas.openxmlformats.org/officeDocument/2006/relationships/notesMaster" Target="/ppt/notesMasters/notesMaster1.xml" Id="R33c044cc77bd46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yourself, the project and the supervisor. State that the project uses no human participants or human/animal-derived data and follows University ethical guidance.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COMP702 CA2 assessment instructions.</a:t>
            </a:r>
          </a:p>
          <a:p xmlns:a="http://schemas.openxmlformats.org/drawingml/2006/main">
            <a:r>
              <a:t>- paper/main.tex — Ethics Statement.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outcome-only evaluation is insufficient. State the revised research question and frame DTAV as the project-specific method, not an established general term.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docs/research_scope_20260814.md.</a:t>
            </a:r>
          </a:p>
          <a:p xmlns:a="http://schemas.openxmlformats.org/drawingml/2006/main">
            <a:r>
              <a:t>- Latest user-provided Player View screenshot, 2026-08-18.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stages as one controlled pipeline.</a:t>
            </a:r>
          </a:p>
          <a:p xmlns:a="http://schemas.openxmlformats.org/drawingml/2006/main">
            <a:r>
              <a:t>Emphasise that the LLM proposes structured intent but does not directly send arbitrary environment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docs/technical/system_architecture.md.</a:t>
            </a:r>
          </a:p>
          <a:p xmlns:a="http://schemas.openxmlformats.org/drawingml/2006/main">
            <a:r>
              <a:t>- src/agent/agent.py.</a:t>
            </a:r>
          </a:p>
          <a:p xmlns:a="http://schemas.openxmlformats.org/drawingml/2006/main">
            <a:r>
              <a:t>- src/agent/llm_decider.py.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Switch to the live Viewer after this slide. Demonstrate Proposal attempt, Fallback checkpoint and Final frame, then explain that the panel is an operational audit record rather than hidden chain-of-thought.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docs/viewers/s3_isometric_battle_viewer_v09n12d_trace_overlay.html.</a:t>
            </a:r>
          </a:p>
          <a:p xmlns:a="http://schemas.openxmlformats.org/drawingml/2006/main">
            <a:r>
              <a:t>- Latest user-provided DTAV Inspector screenshot, 2026-08-18.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three files in the development environment after this slide.</a:t>
            </a:r>
          </a:p>
          <a:p xmlns:a="http://schemas.openxmlformats.org/drawingml/2006/main">
            <a:r>
              <a:t>Use one short code example from each boundary; do not browse every source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src/agent/state_summarizer.py.</a:t>
            </a:r>
          </a:p>
          <a:p xmlns:a="http://schemas.openxmlformats.org/drawingml/2006/main">
            <a:r>
              <a:t>- src/agent/llm_decider.py.</a:t>
            </a:r>
          </a:p>
          <a:p xmlns:a="http://schemas.openxmlformats.org/drawingml/2006/main">
            <a:r>
              <a:t>- src/agent/agent.py.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matched design before interpreting outcomes. Direct prompt won 48 of 100 matches; DTAV won 63 of 100. In the paired comparison, DTAV had a 15 percentage-point advantage, 95% CI 6 to 25 points, McNemar p=.0059.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reports/direct_prompt_vs_dtav_comparison.json.</a:t>
            </a:r>
          </a:p>
          <a:p xmlns:a="http://schemas.openxmlformats.org/drawingml/2006/main">
            <a:r>
              <a:t>- reports/direct_prompt_vs_dtav_trace_analysis.json.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the research question directly. DTAV improved post-check validity from 86.1% to 99.9% and reduced rule-fallback steps from 95.5% to 5.6%, while both conditions retained complete trace and replay linkage. State that this is a bounded comparison of method bundles under one recorded 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reports/direct_prompt_vs_dtav_trace_analysis.json.</a:t>
            </a:r>
          </a:p>
          <a:p xmlns:a="http://schemas.openxmlformats.org/drawingml/2006/main">
            <a:r>
              <a:t>- docs/dissertation/chapter_7_discussion_conclusion.md.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43935aa40944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40ed842a3a4cd9" /><Relationship Type="http://schemas.openxmlformats.org/officeDocument/2006/relationships/slideLayout" Target="/ppt/slideLayouts/slideLayout1.xml" Id="R7a528f523b4344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528f523b4344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99f35b029446e" /><Relationship Type="http://schemas.openxmlformats.org/officeDocument/2006/relationships/notesSlide" Target="/ppt/notesSlides/notesSlide1.xml" Id="R6ce459e7c78b4c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13070963d412c" /><Relationship Type="http://schemas.openxmlformats.org/officeDocument/2006/relationships/image" Target="/ppt/media/image.jpeg" Id="R270116953dc74fc6" /><Relationship Type="http://schemas.openxmlformats.org/officeDocument/2006/relationships/image" Target="/ppt/media/image.png" Id="Raaea57245da64f89" /><Relationship Type="http://schemas.openxmlformats.org/officeDocument/2006/relationships/notesSlide" Target="/ppt/notesSlides/notesSlide2.xml" Id="R942069771ca343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93dbf3ced49b9" /><Relationship Type="http://schemas.openxmlformats.org/officeDocument/2006/relationships/notesSlide" Target="/ppt/notesSlides/notesSlide3.xml" Id="Rc82448f11d7e46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22bc5ad874e74" /><Relationship Type="http://schemas.openxmlformats.org/officeDocument/2006/relationships/image" Target="/ppt/media/image.jpeg" Id="R4aa6eb4e3cb941f9" /><Relationship Type="http://schemas.openxmlformats.org/officeDocument/2006/relationships/image" Target="/ppt/media/image2.png" Id="Ra040b41ee6434128" /><Relationship Type="http://schemas.openxmlformats.org/officeDocument/2006/relationships/notesSlide" Target="/ppt/notesSlides/notesSlide4.xml" Id="Ra320739edf1548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9fceac40e4568" /><Relationship Type="http://schemas.openxmlformats.org/officeDocument/2006/relationships/notesSlide" Target="/ppt/notesSlides/notesSlide5.xml" Id="R0078d1a720854d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556577f1048a0" /><Relationship Type="http://schemas.openxmlformats.org/officeDocument/2006/relationships/notesSlide" Target="/ppt/notesSlides/notesSlide6.xml" Id="R00099c829f4142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d8c14467f4489" /><Relationship Type="http://schemas.openxmlformats.org/officeDocument/2006/relationships/notesSlide" Target="/ppt/notesSlides/notesSlide7.xml" Id="R8b6b33e161bb45b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22756279-7FAC-42C2-A872-C1D702D6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LuxLLM-Agent
Decision Trace + Action Verification (DTAV)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10F3445-A4B6-416F-AB89-7150A3A8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Ze Wang · 201868809 · Supervisor: Dr Meng Fang
Lux AI Season 3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C4265D7-9DA6-4911-BDD4-AC7E5160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COMP702 · 2nd Assessment</a:t>
            </a:r>
          </a:p>
        </p:txBody>
      </p:sp>
      <p:sp>
        <p:nvSpPr>
          <p:cNvPr id="4" name="ethical-compliance">
            <a:extLst xmlns:a="http://schemas.openxmlformats.org/drawingml/2006/main">
              <a:ext uri="{FF2B5EF4-FFF2-40B4-BE49-F238E27FC236}">
                <a16:creationId xmlns:a16="http://schemas.microsoft.com/office/drawing/2014/main" id="{745830F2-9DDF-4A8E-8257-1E5BCAE2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0125"/>
            <a:ext cx="49720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ETHICAL CATEGORY: A0</a:t>
            </a:r>
          </a:p>
          <a:p xmlns:a="http://schemas.openxmlformats.org/drawingml/2006/main">
            <a:pPr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</a:rPr>
              <a:t>No human/animal-derived data or human participants. University of Liverpool ethical guidance followed.</a:t>
            </a:r>
          </a:p>
        </p:txBody>
      </p:sp>
    </p:spTree>
    <p:extLst>
      <p:ext uri="{BB962C8B-B14F-4D97-AF65-F5344CB8AC3E}">
        <p14:creationId xmlns:p14="http://schemas.microsoft.com/office/powerpoint/2010/main" val="1266257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066AD85-E271-4E46-9198-603DE3C3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446CEF2-8A2B-49FD-8E14-436E789B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Inspect decisions—not only outcomes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864B97EF-21BD-4995-8EC4-7653CCFE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2EAB26FB-ECD1-4D1C-BA02-FF78EB0A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INSPECTION GAP</a:t>
            </a:r>
            <a:br/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fluent LLM proposal may be invalid, stale, unsafe or replaced. Win/loss alone cannot show which path produced the executed action.</a:t>
            </a: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
</a:t>
            </a: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  <a:br/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effectively can directly prompted LLMs decide in Lux AI Season 3, and how can DTAV address the observed limitations?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116953dc74fc6"/>
          <a:srcRect xmlns:a="http://schemas.openxmlformats.org/drawingml/2006/main" l="26292" t="0" r="262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a57245da64f89"/>
          <a:srcRect xmlns:a="http://schemas.openxmlformats.org/drawingml/2006/main" l="9621" t="0" r="96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2206113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4FC2165-D79C-45EB-9E32-D17FC580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2438C4D-AF17-4837-A713-320D03CE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framework keeps execution control outside the LLM</a:t>
            </a:r>
          </a:p>
        </p:txBody>
      </p:sp>
      <p:cxnSp>
        <p:nvCxnSpPr>
          <p:cNvPr id="27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C5B07B8-4A96-40EC-93B0-508B6EBF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4F62AA3-874A-4913-A482-ECD6D5A1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B5F804D-13C4-4BEF-94E5-2CF2DC9C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110AC39-B78C-4B2B-9FC8-C339285B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 · SUMMARISE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4C699A6-5084-4873-9268-D7BD9505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 · VERIFY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6DF92A6-2739-4000-ABCD-5F649BF5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 · TRACE &amp; INSPECT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CE9617D6-1754-4F37-ACAB-9AE5566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Proposal → verified intent</a:t>
            </a:r>
            <a:br/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Parse, schema-check, normalise, cache or replace; then apply deterministic risk checks.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03AE87E4-6105-40D6-84AB-155F86AB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Observation → bounded state</a:t>
            </a:r>
            <a:br/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Score, phase, units, energy, map memory and candidate targets form a compact prompt.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A4D1504A-759C-4786-B38B-AFA020F5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Legal action → linked evidence</a:t>
            </a:r>
            <a:br/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Build a valid Lux action and log provenance, interventions, latency, score and replay linkage.</a:t>
            </a:r>
          </a:p>
        </p:txBody>
      </p:sp>
    </p:spTree>
    <p:extLst>
      <p:ext uri="{BB962C8B-B14F-4D97-AF65-F5344CB8AC3E}">
        <p14:creationId xmlns:p14="http://schemas.microsoft.com/office/powerpoint/2010/main" val="13084160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066AD85-E271-4E46-9198-603DE3C3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446CEF2-8A2B-49FD-8E14-436E789B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Viewer: proposal → verify → execute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864B97EF-21BD-4995-8EC4-7653CCFE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2EAB26FB-ECD1-4D1C-BA02-FF78EB0A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REPLAY-GROUNDED INSPECTION</a:t>
            </a:r>
            <a:br/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· PROPOSAL
Source, model, objective and unit intents.
2 · VERIFY
Schema result, risk posture and fallback reason.</a:t>
            </a: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
</a:t>
            </a: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· EXECUTE</a:t>
            </a:r>
            <a:br/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Replay score and action summary show what actually reached the environment.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6eb4e3cb941f9"/>
          <a:srcRect xmlns:a="http://schemas.openxmlformats.org/drawingml/2006/main" l="26292" t="0" r="262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0b41ee6434128"/>
          <a:srcRect xmlns:a="http://schemas.openxmlformats.org/drawingml/2006/main" l="0" t="18617" r="0" b="186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2206113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4FC2165-D79C-45EB-9E32-D17FC580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2438C4D-AF17-4837-A713-320D03CE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code boundaries make the agent inspectable</a:t>
            </a:r>
          </a:p>
        </p:txBody>
      </p:sp>
      <p:cxnSp>
        <p:nvCxnSpPr>
          <p:cNvPr id="27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C5B07B8-4A96-40EC-93B0-508B6EBF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4F62AA3-874A-4913-A482-ECD6D5A1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B5F804D-13C4-4BEF-94E5-2CF2DC9C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110AC39-B78C-4B2B-9FC8-C339285B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 · STATE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4C699A6-5084-4873-9268-D7BD9505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 · DECIDE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6DF92A6-2739-4000-ABCD-5F649BF5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 · EXECUTE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CE9617D6-1754-4F37-ACAB-9AE5566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llm_decider.py</a:t>
            </a:r>
            <a:br/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 structured intents; parses, validates and normalises responses.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03AE87E4-6105-40D6-84AB-155F86AB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state_summarizer.py</a:t>
            </a:r>
            <a:br/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Reduces raw observations and memory to stable strategic features.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A4D1504A-759C-4786-B38B-AFA020F5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agent.py</a:t>
            </a:r>
            <a:br/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Applies cache, verifier, risk filter and fallback before legal actions.</a:t>
            </a:r>
          </a:p>
        </p:txBody>
      </p:sp>
    </p:spTree>
    <p:extLst>
      <p:ext uri="{BB962C8B-B14F-4D97-AF65-F5344CB8AC3E}">
        <p14:creationId xmlns:p14="http://schemas.microsoft.com/office/powerpoint/2010/main" val="13084160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38B22196-3901-475E-9371-CE03C188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57BDE3D-3D5B-4AE7-9C73-5F771B61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0BAD10DD-7F35-45ED-9A52-7FCCC6E6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B36B4B78-EB7F-4FEA-ACE1-5F703311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AF0607DB-5528-4635-A3B0-BE3B66F9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matched comparison favours DTAV under the tested setup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E5368F3-6D62-47BA-83AB-3898C1DC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DIRECT PROMPT
48 wins / 100 matches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2C1CCC3-CE68-4349-9F70-3DA52BFA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MATCHED EFFECT
95% CI +6 to +25; p = .0059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ED96FB9-24A1-4DFB-8199-F4E814F1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DTAV
63 wins / 100 matches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BEC8B75B-DBD3-41C5-9C81-CAD27F7E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48%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FCD08FA4-F5C8-4CF6-88E7-ECF49E99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63%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BEFF36B-F2D1-476B-999D-22AF97F4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+15 pp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D096393-25D0-4E81-AC7F-B723DC66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FINAL CONTROLLED COMPARISON</a:t>
            </a:r>
            <a:br/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Qwen3-32B; 50 matched seeds; roles swapped; 100 matches per method. Same compact observation, temperature, prompt budget, call schedule and minimum legal-action adapter.</a:t>
            </a:r>
          </a:p>
        </p:txBody>
      </p:sp>
    </p:spTree>
    <p:extLst>
      <p:ext uri="{BB962C8B-B14F-4D97-AF65-F5344CB8AC3E}">
        <p14:creationId xmlns:p14="http://schemas.microsoft.com/office/powerpoint/2010/main" val="7486580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38B22196-3901-475E-9371-CE03C188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57BDE3D-3D5B-4AE7-9C73-5F771B61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0BAD10DD-7F35-45ED-9A52-7FCCC6E6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B36B4B78-EB7F-4FEA-ACE1-5F703311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AF0607DB-5528-4635-A3B0-BE3B66F9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DTAV improves usable decisions while keeping the path inspectable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E5368F3-6D62-47BA-83AB-3898C1DC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POST-CHECK VALIDITY
Direct prompt → DTAV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2C1CCC3-CE68-4349-9F70-3DA52BFA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TRACE + REPLAY LINKAGE
both conditions; bounded conclusion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ED96FB9-24A1-4DFB-8199-F4E814F1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RULE-FALLBACK STEPS
Direct prompt → DTAV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BEC8B75B-DBD3-41C5-9C81-CAD27F7E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86.1 → 99.9%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FCD08FA4-F5C8-4CF6-88E7-ECF49E99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95.5 → 5.6%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BEFF36B-F2D1-476B-999D-22AF97F4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D096393-25D0-4E81-AC7F-B723DC66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ANSWER TO THE RESEARCH QUESTION</a:t>
            </a:r>
            <a:br/>
          </a:p>
          <a:p xmlns:a="http://schemas.openxmlformats.org/drawingml/2006/main">
            <a:pPr algn="l">
              <a:lnSpc>
                <a:spcPct val="10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Under the recorded configuration, DTAV improved structured-call usability and strategy continuity while retaining a complete operational audit path from proposal through verification to executed action and replay state.</a:t>
            </a:r>
          </a:p>
        </p:txBody>
      </p:sp>
    </p:spTree>
    <p:extLst>
      <p:ext uri="{BB962C8B-B14F-4D97-AF65-F5344CB8AC3E}">
        <p14:creationId xmlns:p14="http://schemas.microsoft.com/office/powerpoint/2010/main" val="748658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2026-08-18T09:55:03.2630000Z</dcterms:created>
  <dcterms:modified xsi:type="dcterms:W3CDTF">2026-08-18T09:55:03.2630000Z</dcterms:modified>
</coreProperties>
</file>