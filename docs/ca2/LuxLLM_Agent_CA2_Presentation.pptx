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79e5e371f74116" /><Relationship Type="http://schemas.openxmlformats.org/officeDocument/2006/relationships/extended-properties" Target="/docProps/app.xml" Id="R2eb97016e0424bd3" /><Relationship Type="http://schemas.openxmlformats.org/officeDocument/2006/relationships/officeDocument" Target="/ppt/presentation.xml" Id="R7cb81e0a2d2c45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093149365e41fa"/>
  </p:sldMasterIdLst>
  <p:notesMasterIdLst>
    <p:notesMasterId xmlns:r="http://schemas.openxmlformats.org/officeDocument/2006/relationships" r:id="Rb4eb19c7dcef465b"/>
  </p:notesMasterIdLst>
  <p:sldIdLst>
    <p:sldId xmlns:r="http://schemas.openxmlformats.org/officeDocument/2006/relationships" id="256" r:id="Rcff31fba4c2b4615"/>
    <p:sldId xmlns:r="http://schemas.openxmlformats.org/officeDocument/2006/relationships" id="257" r:id="R328495b2923a4abd"/>
    <p:sldId xmlns:r="http://schemas.openxmlformats.org/officeDocument/2006/relationships" id="258" r:id="R773fc2b5b6b1420b"/>
    <p:sldId xmlns:r="http://schemas.openxmlformats.org/officeDocument/2006/relationships" id="259" r:id="R280128ff31b14ebe"/>
    <p:sldId xmlns:r="http://schemas.openxmlformats.org/officeDocument/2006/relationships" id="260" r:id="R95fd08343d1a4e15"/>
    <p:sldId xmlns:r="http://schemas.openxmlformats.org/officeDocument/2006/relationships" id="261" r:id="Rd88f3d9f783547d1"/>
    <p:sldId xmlns:r="http://schemas.openxmlformats.org/officeDocument/2006/relationships" id="262" r:id="Ref3ccc1bccdf41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e7a14909bd4084" /><Relationship Type="http://schemas.openxmlformats.org/officeDocument/2006/relationships/slideMaster" Target="/ppt/slideMasters/slideMaster1.xml" Id="R20093149365e41fa" /><Relationship Type="http://schemas.openxmlformats.org/officeDocument/2006/relationships/notesMaster" Target="/ppt/notesMasters/notesMaster1.xml" Id="Rb4eb19c7dcef465b" /><Relationship Type="http://schemas.openxmlformats.org/officeDocument/2006/relationships/presProps" Target="/ppt/presProps.xml" Id="Rf2eb4b5d9dc04082" /><Relationship Type="http://schemas.openxmlformats.org/officeDocument/2006/relationships/tableStyles" Target="/ppt/tableStyles.xml" Id="R68c8c7b263c64100" /><Relationship Type="http://schemas.openxmlformats.org/officeDocument/2006/relationships/slide" Target="/ppt/slides/slide1.xml" Id="Rcff31fba4c2b4615" /><Relationship Type="http://schemas.openxmlformats.org/officeDocument/2006/relationships/slide" Target="/ppt/slides/slide2.xml" Id="R328495b2923a4abd" /><Relationship Type="http://schemas.openxmlformats.org/officeDocument/2006/relationships/slide" Target="/ppt/slides/slide3.xml" Id="R773fc2b5b6b1420b" /><Relationship Type="http://schemas.openxmlformats.org/officeDocument/2006/relationships/slide" Target="/ppt/slides/slide4.xml" Id="R280128ff31b14ebe" /><Relationship Type="http://schemas.openxmlformats.org/officeDocument/2006/relationships/slide" Target="/ppt/slides/slide5.xml" Id="R95fd08343d1a4e15" /><Relationship Type="http://schemas.openxmlformats.org/officeDocument/2006/relationships/slide" Target="/ppt/slides/slide6.xml" Id="Rd88f3d9f783547d1" /><Relationship Type="http://schemas.openxmlformats.org/officeDocument/2006/relationships/slide" Target="/ppt/slides/slide7.xml" Id="Ref3ccc1bccdf41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41b8a4a6e643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74a347e60c4534" /><Relationship Type="http://schemas.openxmlformats.org/officeDocument/2006/relationships/notesMaster" Target="/ppt/notesMasters/notesMaster1.xml" Id="Rfe5405df99d94d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02dad477444c12" /><Relationship Type="http://schemas.openxmlformats.org/officeDocument/2006/relationships/notesMaster" Target="/ppt/notesMasters/notesMaster1.xml" Id="R48050f8a3d4541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334ada796a4152" /><Relationship Type="http://schemas.openxmlformats.org/officeDocument/2006/relationships/notesMaster" Target="/ppt/notesMasters/notesMaster1.xml" Id="R84948951843742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a3330d4ae64245" /><Relationship Type="http://schemas.openxmlformats.org/officeDocument/2006/relationships/notesMaster" Target="/ppt/notesMasters/notesMaster1.xml" Id="R9ddcca4fbc9345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552aec8fb64f8a" /><Relationship Type="http://schemas.openxmlformats.org/officeDocument/2006/relationships/notesMaster" Target="/ppt/notesMasters/notesMaster1.xml" Id="Rd80d48780cb644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97c1a1110a418f" /><Relationship Type="http://schemas.openxmlformats.org/officeDocument/2006/relationships/notesMaster" Target="/ppt/notesMasters/notesMaster1.xml" Id="Rcd89451ee7154e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8bf31762b34fa1" /><Relationship Type="http://schemas.openxmlformats.org/officeDocument/2006/relationships/notesMaster" Target="/ppt/notesMasters/notesMaster1.xml" Id="Rc43207ca173643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yourself, the project and the supervisor.</a:t>
            </a:r>
          </a:p>
          <a:p xmlns:a="http://schemas.openxmlformats.org/drawingml/2006/main">
            <a:r>
              <a:t>State that the project uses no human participants or human/animal-derived data and follows University ethical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COMP702 CA2 assessment instructions.</a:t>
            </a:r>
          </a:p>
          <a:p xmlns:a="http://schemas.openxmlformats.org/drawingml/2006/main">
            <a:r>
              <a:t>- paper/main.tex — Ethics Statement.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win/loss is insufficient for inspecting a hybrid LLM agent.</a:t>
            </a:r>
          </a:p>
          <a:p xmlns:a="http://schemas.openxmlformats.org/drawingml/2006/main">
            <a:r>
              <a:t>State the research question and the boundary: this project evaluates inspectability, not a general model leaderboard.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docs/technical/system_architecture.md.</a:t>
            </a:r>
          </a:p>
          <a:p xmlns:a="http://schemas.openxmlformats.org/drawingml/2006/main">
            <a:r>
              <a:t>- Current local Viewer screenshot captured 2026-08-14.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stages as one controlled pipeline.</a:t>
            </a:r>
          </a:p>
          <a:p xmlns:a="http://schemas.openxmlformats.org/drawingml/2006/main">
            <a:r>
              <a:t>Emphasise that the LLM proposes structured intent but does not directly send arbitrary environment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docs/technical/system_architecture.md.</a:t>
            </a:r>
          </a:p>
          <a:p xmlns:a="http://schemas.openxmlformats.org/drawingml/2006/main">
            <a:r>
              <a:t>- src/agent/agent.py.</a:t>
            </a:r>
          </a:p>
          <a:p xmlns:a="http://schemas.openxmlformats.org/drawingml/2006/main">
            <a:r>
              <a:t>- src/agent/llm_decider.py.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the live Viewer after this slide and demonstrate Proposal attempt, Fallback checkpoint and Final.</a:t>
            </a:r>
          </a:p>
          <a:p xmlns:a="http://schemas.openxmlformats.org/drawingml/2006/main">
            <a:r>
              <a:t>Point out that the screenshot reports the proposal, verifier decision and executed state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local Viewer screenshot captured 2026-08-14.</a:t>
            </a:r>
          </a:p>
          <a:p xmlns:a="http://schemas.openxmlformats.org/drawingml/2006/main">
            <a:r>
              <a:t>- docs/viewers/s3_isometric_battle_viewer_v09n12d_trace_overlay.html.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three files in the development environment after this slide.</a:t>
            </a:r>
          </a:p>
          <a:p xmlns:a="http://schemas.openxmlformats.org/drawingml/2006/main">
            <a:r>
              <a:t>Use one short code example from each boundary; do not browse every source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src/agent/state_summarizer.py.</a:t>
            </a:r>
          </a:p>
          <a:p xmlns:a="http://schemas.openxmlformats.org/drawingml/2006/main">
            <a:r>
              <a:t>- src/agent/llm_decider.py.</a:t>
            </a:r>
          </a:p>
          <a:p xmlns:a="http://schemas.openxmlformats.org/drawingml/2006/main">
            <a:r>
              <a:t>- src/agent/agent.py.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primary and supplementary experiment designs before interpreting outcomes.</a:t>
            </a:r>
          </a:p>
          <a:p xmlns:a="http://schemas.openxmlformats.org/drawingml/2006/main">
            <a:r>
              <a:t>State that all 9,267 fresh calls were valid after recorded checks; this includes 520 primary Qwen normalisations and 571 dual-run normalisations.</a:t>
            </a:r>
          </a:p>
          <a:p xmlns:a="http://schemas.openxmlformats.org/drawingml/2006/main">
            <a:r>
              <a:t>Treat the 54:46 result as supplementary and non-significant at seed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reports/final_trace_evaluation.json.</a:t>
            </a:r>
          </a:p>
          <a:p xmlns:a="http://schemas.openxmlformats.org/drawingml/2006/main">
            <a:r>
              <a:t>- reports/dual_llm_trace_evaluation.json.</a:t>
            </a:r>
          </a:p>
          <a:p xmlns:a="http://schemas.openxmlformats.org/drawingml/2006/main">
            <a:r>
              <a:t>- reports/verifier_intervention_audit.json.</a:t>
            </a:r>
          </a:p>
          <a:p xmlns:a="http://schemas.openxmlformats.org/drawingml/2006/main">
            <a:r>
              <a:t>- reports/dual_llm_verifier_audit.json.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the research question directly: tracing provides provenance, verification constrains execution, and the Viewer connects both to replay evidence.</a:t>
            </a:r>
          </a:p>
          <a:p xmlns:a="http://schemas.openxmlformats.org/drawingml/2006/main">
            <a:r>
              <a:t>State the limitations: operational traces are not a complete causal explanation; evidence comes from one game and two local 32B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reports/final_trace_evaluation.json.</a:t>
            </a:r>
          </a:p>
          <a:p xmlns:a="http://schemas.openxmlformats.org/drawingml/2006/main">
            <a:r>
              <a:t>- reports/dual_llm_trace_evaluation.json.</a:t>
            </a:r>
          </a:p>
          <a:p xmlns:a="http://schemas.openxmlformats.org/drawingml/2006/main">
            <a:r>
              <a:t>- docs/dissertation/chapter_7_discussion_conclusion.md.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b3eb40a8a4f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9373ea84574e50" /><Relationship Type="http://schemas.openxmlformats.org/officeDocument/2006/relationships/slideLayout" Target="/ppt/slideLayouts/slideLayout1.xml" Id="R42749ed6b37d43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49ed6b37d43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19c5c5ffd412d" /><Relationship Type="http://schemas.openxmlformats.org/officeDocument/2006/relationships/notesSlide" Target="/ppt/notesSlides/notesSlide1.xml" Id="R4f4f8990428946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0041a11f14d0b" /><Relationship Type="http://schemas.openxmlformats.org/officeDocument/2006/relationships/image" Target="/ppt/media/image.jpeg" Id="R1bde8ed662ca4436" /><Relationship Type="http://schemas.openxmlformats.org/officeDocument/2006/relationships/notesSlide" Target="/ppt/notesSlides/notesSlide2.xml" Id="R3a2446160e9144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6c0d169e94db6" /><Relationship Type="http://schemas.openxmlformats.org/officeDocument/2006/relationships/notesSlide" Target="/ppt/notesSlides/notesSlide3.xml" Id="R9899b35de6e949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ec997e23145ca" /><Relationship Type="http://schemas.openxmlformats.org/officeDocument/2006/relationships/image" Target="/ppt/media/image.jpeg" Id="Re2e5e7bb5e884168" /><Relationship Type="http://schemas.openxmlformats.org/officeDocument/2006/relationships/notesSlide" Target="/ppt/notesSlides/notesSlide4.xml" Id="Rcc29ebe6a1a247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dbe1fc9cd42c8" /><Relationship Type="http://schemas.openxmlformats.org/officeDocument/2006/relationships/notesSlide" Target="/ppt/notesSlides/notesSlide5.xml" Id="R8410ff91a72144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b8ff8097b48e9" /><Relationship Type="http://schemas.openxmlformats.org/officeDocument/2006/relationships/notesSlide" Target="/ppt/notesSlides/notesSlide6.xml" Id="Rfc6e6035eb2740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e35b358b64d36" /><Relationship Type="http://schemas.openxmlformats.org/officeDocument/2006/relationships/notesSlide" Target="/ppt/notesSlides/notesSlide7.xml" Id="R41e13d7f0e784a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22756279-7FAC-42C2-A872-C1D702D6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LuxLLM-Agent
Decision Trace + Rule Verification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10F3445-A4B6-416F-AB89-7150A3A8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Ze Wang · 201868809 · Supervisor: Dr Meng Fang
Lux AI Season 3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C4265D7-9DA6-4911-BDD4-AC7E5160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COMP702 · 2nd Assessment</a:t>
            </a:r>
          </a:p>
        </p:txBody>
      </p:sp>
      <p:sp>
        <p:nvSpPr>
          <p:cNvPr id="4" name="ethical-compliance">
            <a:extLst xmlns:a="http://schemas.openxmlformats.org/drawingml/2006/main">
              <a:ext uri="{FF2B5EF4-FFF2-40B4-BE49-F238E27FC236}">
                <a16:creationId xmlns:a16="http://schemas.microsoft.com/office/drawing/2014/main" id="{745830F2-9DDF-4A8E-8257-1E5BCAE2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0125"/>
            <a:ext cx="4972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ETHICAL CATEGORY: A0</a:t>
            </a:r>
          </a:p>
          <a:p xmlns:a="http://schemas.openxmlformats.org/drawingml/2006/main">
            <a:pPr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No human/animal-derived data or human participants. University of Liverpool ethical guidance followed.</a:t>
            </a:r>
          </a:p>
        </p:txBody>
      </p:sp>
    </p:spTree>
    <p:extLst>
      <p:ext uri="{BB962C8B-B14F-4D97-AF65-F5344CB8AC3E}">
        <p14:creationId xmlns:p14="http://schemas.microsoft.com/office/powerpoint/2010/main" val="1266257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066AD85-E271-4E46-9198-603DE3C3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446CEF2-8A2B-49FD-8E14-436E789B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Inspect decisions—not only outcomes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864B97EF-21BD-4995-8EC4-7653CCF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2EAB26FB-ECD1-4D1C-BA02-FF78EB0A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INSPECTION GAP</a:t>
            </a:r>
            <a:b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fluent LLM proposal may be invalid, stale, unsafe or replaced. Win/loss alone cannot show which path produced the executed action.</a:t>
            </a: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  <a:b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can structured decision tracing and rule-based action verification support inspection and evaluation in Lux AI Season 3?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e8ed662ca4436"/>
          <a:srcRect xmlns:a="http://schemas.openxmlformats.org/drawingml/2006/main" l="26292" t="0" r="262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113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4FC2165-D79C-45EB-9E32-D17FC580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2438C4D-AF17-4837-A713-320D03C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framework keeps execution control outside the LLM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C5B07B8-4A96-40EC-93B0-508B6EBF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4F62AA3-874A-4913-A482-ECD6D5A1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B5F804D-13C4-4BEF-94E5-2CF2DC9C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110AC39-B78C-4B2B-9FC8-C339285B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· SUMMARISE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4C699A6-5084-4873-9268-D7BD9505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· VERIFY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6DF92A6-2739-4000-ABCD-5F649BF5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· TRACE &amp; INSPECT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E9617D6-1754-4F37-ACAB-9AE5566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Proposal → verified intent</a:t>
            </a:r>
            <a:b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Parse, schema-check, normalise, cache or replace; then apply deterministic risk checks.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3AE87E4-6105-40D6-84AB-155F86AB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Observation → bounded state</a:t>
            </a:r>
            <a:b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Score, phase, units, energy, map memory and candidate targets form a compact prompt.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A4D1504A-759C-4786-B38B-AFA020F5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Legal action → linked evidence</a:t>
            </a:r>
            <a:b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a valid Lux action and log provenance, interventions, latency, score and replay linkage.</a:t>
            </a:r>
          </a:p>
        </p:txBody>
      </p:sp>
    </p:spTree>
    <p:extLst>
      <p:ext uri="{BB962C8B-B14F-4D97-AF65-F5344CB8AC3E}">
        <p14:creationId xmlns:p14="http://schemas.microsoft.com/office/powerpoint/2010/main" val="13084160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066AD85-E271-4E46-9198-603DE3C3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446CEF2-8A2B-49FD-8E14-436E789B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Viewer: proposal → verify → execute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864B97EF-21BD-4995-8EC4-7653CCF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2EAB26FB-ECD1-4D1C-BA02-FF78EB0A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REPLAY-GROUNDED INSPECTION</a:t>
            </a:r>
            <a:b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PROPOSAL
Source, model, objective and unit intents.
2 · VERIFY
Schema result, risk posture and fallback reason.</a:t>
            </a: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EXECUTE</a:t>
            </a:r>
            <a:b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Replay score and action summary show what actually reached the environment.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5e7bb5e884168"/>
          <a:srcRect xmlns:a="http://schemas.openxmlformats.org/drawingml/2006/main" l="26292" t="0" r="262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113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4FC2165-D79C-45EB-9E32-D17FC580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2438C4D-AF17-4837-A713-320D03C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code boundaries make the agent inspectable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C5B07B8-4A96-40EC-93B0-508B6EBF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4F62AA3-874A-4913-A482-ECD6D5A1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B5F804D-13C4-4BEF-94E5-2CF2DC9C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110AC39-B78C-4B2B-9FC8-C339285B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· STATE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4C699A6-5084-4873-9268-D7BD9505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· DECIDE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6DF92A6-2739-4000-ABCD-5F649BF5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· EXECUTE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E9617D6-1754-4F37-ACAB-9AE5566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llm_decider.py</a:t>
            </a:r>
            <a:b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 structured intents; parses, validates and normalises responses.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3AE87E4-6105-40D6-84AB-155F86AB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state_summarizer.py</a:t>
            </a:r>
            <a:b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Reduces raw observations and memory to stable strategic features.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A4D1504A-759C-4786-B38B-AFA020F5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agent.py</a:t>
            </a:r>
            <a:b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Applies cache, verifier, risk filter and fallback before legal actions.</a:t>
            </a:r>
          </a:p>
        </p:txBody>
      </p:sp>
    </p:spTree>
    <p:extLst>
      <p:ext uri="{BB962C8B-B14F-4D97-AF65-F5344CB8AC3E}">
        <p14:creationId xmlns:p14="http://schemas.microsoft.com/office/powerpoint/2010/main" val="13084160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38B22196-3901-475E-9371-CE03C188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57BDE3D-3D5B-4AE7-9C73-5F771B61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0BAD10DD-7F35-45ED-9A52-7FCCC6E6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36B4B78-EB7F-4FEA-ACE1-5F70331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F0607DB-5528-4635-A3B0-BE3B66F9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300 controlled matches produced complete framework evidence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E5368F3-6D62-47BA-83AB-3898C1D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MATCHES
completed; 312,908 trace records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2C1CCC3-CE68-4349-9F70-3DA52BFA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DIRECT DUAL-LLM
100 matches; seed-level p = .503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ED96FB9-24A1-4DFB-8199-F4E814F1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LLM CALLS
valid after recorded checks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EC8B75B-DBD3-41C5-9C81-CAD27F7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300 / 300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CD08FA4-F5C8-4CF6-88E7-ECF49E9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9,267 / 9,267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BEFF36B-F2D1-476B-999D-22AF97F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54 : 46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D096393-25D0-4E81-AC7F-B723DC66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DESIGN</a:t>
            </a:r>
            <a:b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Primary: Qwen and DeepSeek each play 100 matched-seed, role-swapped matches against the same rule opponent. Supplementary: 100 direct Qwen-versus-DeepSeek matches under the same framework.</a:t>
            </a:r>
          </a:p>
        </p:txBody>
      </p:sp>
    </p:spTree>
    <p:extLst>
      <p:ext uri="{BB962C8B-B14F-4D97-AF65-F5344CB8AC3E}">
        <p14:creationId xmlns:p14="http://schemas.microsoft.com/office/powerpoint/2010/main" val="7486580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38B22196-3901-475E-9371-CE03C188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57BDE3D-3D5B-4AE7-9C73-5F771B61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0BAD10DD-7F35-45ED-9A52-7FCCC6E6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36B4B78-EB7F-4FEA-ACE1-5F70331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F0607DB-5528-4635-A3B0-BE3B66F9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Tracing and verification make the action path auditable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E5368F3-6D62-47BA-83AB-3898C1D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TRACE RECORDS
complete across 300 matches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2C1CCC3-CE68-4349-9F70-3DA52BFA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INTERPRETATION
operational evidence—not causal reasoning or a general ranking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ED96FB9-24A1-4DFB-8199-F4E814F1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RISK-FILTER STEPS
changed across all studies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EC8B75B-DBD3-41C5-9C81-CAD27F7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312,908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CD08FA4-F5C8-4CF6-88E7-ECF49E9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28,401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BEFF36B-F2D1-476B-999D-22AF97F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BOUNDED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D096393-25D0-4E81-AC7F-B723DC66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ANSWER TO THE RESEARCH QUESTION</a:t>
            </a:r>
            <a:b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</a:b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LuxLLM-Agent links each strategic proposal to deterministic checks and the action that reached Lux. It reveals how decisions were accepted, normalised, cached or replaced—not only whether the agent won.</a:t>
            </a:r>
          </a:p>
        </p:txBody>
      </p:sp>
    </p:spTree>
    <p:extLst>
      <p:ext uri="{BB962C8B-B14F-4D97-AF65-F5344CB8AC3E}">
        <p14:creationId xmlns:p14="http://schemas.microsoft.com/office/powerpoint/2010/main" val="748658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2026-08-14T11:28:13.5520000Z</dcterms:created>
  <dcterms:modified xsi:type="dcterms:W3CDTF">2026-08-14T11:28:13.5520000Z</dcterms:modified>
</coreProperties>
</file>